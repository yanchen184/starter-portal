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JhengHei"/>
              </a:defRPr>
            </a:pPr>
            <a:r>
              <a:t>團隊協作與知識管理 提案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A90D9"/>
                </a:solidFill>
                <a:latin typeface="Microsoft JhengHei"/>
              </a:defRPr>
            </a:pPr>
            <a:r>
              <a:t>打造高效團隊的兩大基礎建設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840480"/>
            <a:ext cx="2103120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Microsoft JhengHei"/>
              </a:defRPr>
            </a:pPr>
            <a:r>
              <a:t>2026 Q2  |  內部提案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核心理念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8D3F"/>
                </a:solidFill>
                <a:latin typeface="Microsoft JhengHei"/>
              </a:defRPr>
            </a:pPr>
            <a:r>
              <a:t>「好的團隊，不應該因為少了誰就無法運作。」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Microsoft JhengHei"/>
              </a:defRPr>
            </a:pPr>
            <a:r>
              <a:t>知識如果只存在某個人的腦袋裡，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Microsoft JhengHei"/>
              </a:defRPr>
            </a:pPr>
            <a:r>
              <a:t>那個人請假、換組、離職，工作就會停擺。</a:t>
            </a:r>
          </a:p>
          <a:p>
            <a:pPr>
              <a:spcAft>
                <a:spcPts val="800"/>
              </a:spcAft>
              <a:defRPr sz="2000">
                <a:solidFill>
                  <a:srgbClr val="CCCCCC"/>
                </a:solidFill>
                <a:latin typeface="Microsoft JhengHei"/>
              </a:defRPr>
            </a:pPr>
            <a:r>
              <a:t>這不是個人能力的問題，而是組織缺乏知識管理的系統性風險。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CC71"/>
                </a:solidFill>
                <a:latin typeface="Microsoft JhengHei"/>
              </a:defRPr>
            </a:pPr>
            <a:r>
              <a:t>✓  需求規格、技術設計、決策脈絡，全部有文字紀錄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074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CC71"/>
                </a:solidFill>
                <a:latin typeface="Microsoft JhengHei"/>
              </a:defRPr>
            </a:pPr>
            <a:r>
              <a:t>✓  新人看文件就能上手，不用靠老人口耳相傳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577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CC71"/>
                </a:solidFill>
                <a:latin typeface="Microsoft JhengHei"/>
              </a:defRPr>
            </a:pPr>
            <a:r>
              <a:t>✓  不再有「這件事只有某某知道」的狀況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6080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CC71"/>
                </a:solidFill>
                <a:latin typeface="Microsoft JhengHei"/>
              </a:defRPr>
            </a:pPr>
            <a:r>
              <a:t>✓  人員異動不影響團隊的知識傳承與運作效率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一、現況痛點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5720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8D3F"/>
                </a:solidFill>
                <a:latin typeface="Microsoft JhengHei"/>
              </a:defRPr>
            </a:pPr>
            <a:r>
              <a:t>1.1  文檔與規格書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80"/>
              </a:spcAft>
              <a:defRPr sz="1700">
                <a:solidFill>
                  <a:srgbClr val="CCCCCC"/>
                </a:solidFill>
                <a:latin typeface="Microsoft JhengHei"/>
              </a:defRPr>
            </a:pPr>
            <a:r>
              <a:t>•  幾乎沒有 Spec 文件，需求靠口頭傳遞</a:t>
            </a:r>
          </a:p>
          <a:p>
            <a:pPr>
              <a:spcAft>
                <a:spcPts val="680"/>
              </a:spcAft>
              <a:defRPr sz="1700">
                <a:solidFill>
                  <a:srgbClr val="CCCCCC"/>
                </a:solidFill>
                <a:latin typeface="Microsoft JhengHei"/>
              </a:defRPr>
            </a:pPr>
            <a:r>
              <a:t>•  技術文件散落各 Git Repo，難以搜尋</a:t>
            </a:r>
          </a:p>
          <a:p>
            <a:pPr>
              <a:spcAft>
                <a:spcPts val="680"/>
              </a:spcAft>
              <a:defRPr sz="1700">
                <a:solidFill>
                  <a:srgbClr val="CCCCCC"/>
                </a:solidFill>
                <a:latin typeface="Microsoft JhengHei"/>
              </a:defRPr>
            </a:pPr>
            <a:r>
              <a:t>•  新人 onboarding 沒有參考資料，養成時間長</a:t>
            </a:r>
          </a:p>
          <a:p>
            <a:pPr>
              <a:spcAft>
                <a:spcPts val="680"/>
              </a:spcAft>
              <a:defRPr sz="1700">
                <a:solidFill>
                  <a:srgbClr val="CCCCCC"/>
                </a:solidFill>
                <a:latin typeface="Microsoft JhengHei"/>
              </a:defRPr>
            </a:pPr>
            <a:r>
              <a:t>•  同樣的問題重複被問、重複踩坑</a:t>
            </a:r>
          </a:p>
          <a:p>
            <a:pPr>
              <a:spcAft>
                <a:spcPts val="680"/>
              </a:spcAft>
              <a:defRPr sz="1700">
                <a:solidFill>
                  <a:srgbClr val="CCCCCC"/>
                </a:solidFill>
                <a:latin typeface="Microsoft JhengHei"/>
              </a:defRPr>
            </a:pPr>
            <a:r>
              <a:t>•  PM 與工程師之間資訊落差大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645920"/>
            <a:ext cx="5303520" cy="45720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8D3F"/>
                </a:solidFill>
                <a:latin typeface="Microsoft JhengHei"/>
              </a:defRPr>
            </a:pPr>
            <a:r>
              <a:t>1.2  溝通工具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80"/>
              </a:spcAft>
              <a:defRPr sz="1700">
                <a:solidFill>
                  <a:srgbClr val="CCCCCC"/>
                </a:solidFill>
                <a:latin typeface="Microsoft JhengHei"/>
              </a:defRPr>
            </a:pPr>
            <a:r>
              <a:t>•  LINE 訊息容易被洗掉、無法追溯</a:t>
            </a:r>
          </a:p>
          <a:p>
            <a:pPr>
              <a:spcAft>
                <a:spcPts val="680"/>
              </a:spcAft>
              <a:defRPr sz="1700">
                <a:solidFill>
                  <a:srgbClr val="CCCCCC"/>
                </a:solidFill>
                <a:latin typeface="Microsoft JhengHei"/>
              </a:defRPr>
            </a:pPr>
            <a:r>
              <a:t>•  無法針對單一議題進行討論（Thread）</a:t>
            </a:r>
          </a:p>
          <a:p>
            <a:pPr>
              <a:spcAft>
                <a:spcPts val="680"/>
              </a:spcAft>
              <a:defRPr sz="1700">
                <a:solidFill>
                  <a:srgbClr val="CCCCCC"/>
                </a:solidFill>
                <a:latin typeface="Microsoft JhengHei"/>
              </a:defRPr>
            </a:pPr>
            <a:r>
              <a:t>•  新成員加入看不到歷史訊息脈絡</a:t>
            </a:r>
          </a:p>
          <a:p>
            <a:pPr>
              <a:spcAft>
                <a:spcPts val="680"/>
              </a:spcAft>
              <a:defRPr sz="1700">
                <a:solidFill>
                  <a:srgbClr val="CCCCCC"/>
                </a:solidFill>
                <a:latin typeface="Microsoft JhengHei"/>
              </a:defRPr>
            </a:pPr>
            <a:r>
              <a:t>•  無法整合開發工具通知（Git、CI/CD）</a:t>
            </a:r>
          </a:p>
          <a:p>
            <a:pPr>
              <a:spcAft>
                <a:spcPts val="680"/>
              </a:spcAft>
              <a:defRPr sz="1700">
                <a:solidFill>
                  <a:srgbClr val="CCCCCC"/>
                </a:solidFill>
                <a:latin typeface="Microsoft JhengHei"/>
              </a:defRPr>
            </a:pPr>
            <a:r>
              <a:t>•  重要決策散落在聊天記錄中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1.3  隱性成本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03520" cy="20116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Microsoft JhengHei"/>
              </a:defRPr>
            </a:pPr>
            <a:r>
              <a:t>溝通成本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JhengHei"/>
              </a:defRPr>
            </a:pPr>
            <a:r>
              <a:t>每人每天花 30~60 分鐘在「找資料」和「問人」</a:t>
            </a:r>
            <a:br/>
            <a:r>
              <a:t>80 人團隊 = 每月損失 200+ 人時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9202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74C3C"/>
                </a:solidFill>
                <a:latin typeface="Microsoft JhengHei"/>
              </a:defRPr>
            </a:pPr>
            <a:r>
              <a:t>200+</a:t>
            </a:r>
            <a:br/>
            <a:r>
              <a:t>人時/月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303520" cy="20116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Microsoft JhengHei"/>
              </a:defRPr>
            </a:pPr>
            <a:r>
              <a:t>重複犯錯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JhengHei"/>
              </a:defRPr>
            </a:pPr>
            <a:r>
              <a:t>沒有知識沉澱，同樣的坑不同人重複踩</a:t>
            </a:r>
            <a:br/>
            <a:r>
              <a:t>修一次 bug 可能要 2~4 小時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19202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74C3C"/>
                </a:solidFill>
                <a:latin typeface="Microsoft JhengHei"/>
              </a:defRPr>
            </a:pPr>
            <a:r>
              <a:t>2~4 hr</a:t>
            </a:r>
            <a:br/>
            <a:r>
              <a:t>/ 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23360"/>
            <a:ext cx="5303520" cy="20116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Microsoft JhengHei"/>
              </a:defRPr>
            </a:pPr>
            <a:r>
              <a:t>新人養成慢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091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JhengHei"/>
              </a:defRPr>
            </a:pPr>
            <a:r>
              <a:t>沒有文檔支撐，onboarding 靠師徒制</a:t>
            </a:r>
            <a:br/>
            <a:r>
              <a:t>新人從入職到產出的時間拉長 2~3 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29768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74C3C"/>
                </a:solidFill>
                <a:latin typeface="Microsoft JhengHei"/>
              </a:defRPr>
            </a:pPr>
            <a:r>
              <a:t>2~3 倍</a:t>
            </a:r>
            <a:br/>
            <a:r>
              <a:t>更久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023360"/>
            <a:ext cx="5303520" cy="20116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Microsoft JhengHei"/>
              </a:defRPr>
            </a:pPr>
            <a:r>
              <a:t>決策不透明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7091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JhengHei"/>
              </a:defRPr>
            </a:pPr>
            <a:r>
              <a:t>重要脈絡隨人員異動而消失</a:t>
            </a:r>
            <a:br/>
            <a:r>
              <a:t>沒人知道「當初為什麼這樣設計」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429768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74C3C"/>
                </a:solidFill>
                <a:latin typeface="Microsoft JhengHei"/>
              </a:defRPr>
            </a:pPr>
            <a:r>
              <a:t>無法</a:t>
            </a:r>
            <a:br/>
            <a:r>
              <a:t>追溯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二、知識管理平台需求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5303520" cy="47548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Microsoft JhengHei"/>
              </a:defRPr>
            </a:pPr>
            <a:r>
              <a:t>P0 核心需求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90D9"/>
                </a:solidFill>
                <a:latin typeface="Microsoft JhengHei"/>
              </a:defRPr>
            </a:pPr>
            <a:r>
              <a:t>權限控管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JhengHei"/>
              </a:defRPr>
            </a:pPr>
            <a:r>
              <a:t>•  依專案/部門分權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JhengHei"/>
              </a:defRPr>
            </a:pPr>
            <a:r>
              <a:t>•  依角色分權（PM / RD / QA / 主管）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JhengHei"/>
              </a:defRPr>
            </a:pPr>
            <a:r>
              <a:t>•  「全公司可見」與「專案內可見」兩種層級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JhengHei"/>
              </a:defRPr>
            </a:pPr>
            <a:r>
              <a:t>•  由管理者指定存取權限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90D9"/>
                </a:solidFill>
                <a:latin typeface="Microsoft JhengHei"/>
              </a:defRPr>
            </a:pPr>
            <a:r>
              <a:t>內容模板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JhengHei"/>
              </a:defRPr>
            </a:pPr>
            <a:r>
              <a:t>•  PRD（需求規格書）— PM 撰寫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JhengHei"/>
              </a:defRPr>
            </a:pPr>
            <a:r>
              <a:t>•  TDD（技術設計文件）— 工程師撰寫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JhengHei"/>
              </a:defRPr>
            </a:pPr>
            <a:r>
              <a:t>•  API Spec — 工程師撰寫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JhengHei"/>
              </a:defRPr>
            </a:pPr>
            <a:r>
              <a:t>•  Onboarding 指南 — 每個專案一份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JhengHei"/>
              </a:defRPr>
            </a:pPr>
            <a:r>
              <a:t>•  Meeting Notes — 會議決策紀錄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303520" cy="219456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8D3F"/>
                </a:solidFill>
                <a:latin typeface="Microsoft JhengHei"/>
              </a:defRPr>
            </a:pPr>
            <a:r>
              <a:t>P1 重要需求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JhengHei"/>
              </a:defRPr>
            </a:pPr>
            <a:r>
              <a:t>•  全文搜尋 — 文件多了之後找得到才有用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JhengHei"/>
              </a:defRPr>
            </a:pPr>
            <a:r>
              <a:t>•  版本歷史 — 誰改了什麼、能回溯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JhengHei"/>
              </a:defRPr>
            </a:pPr>
            <a:r>
              <a:t>•  協作編輯 — 多人同時編輯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931920"/>
            <a:ext cx="5303520" cy="237744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069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Microsoft JhengHei"/>
              </a:defRPr>
            </a:pPr>
            <a:r>
              <a:t>P2 加分需求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6634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JhengHei"/>
              </a:defRPr>
            </a:pPr>
            <a:r>
              <a:t>•  結構化組織 — 樹狀目錄/空間/標籤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JhengHei"/>
              </a:defRPr>
            </a:pPr>
            <a:r>
              <a:t>•  整合能力 — Git、Slack、CI/CD 串接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Microsoft JhengHei"/>
              </a:defRPr>
            </a:pPr>
            <a:r>
              <a:t>•  匯出功能 — PDF/Word 匯出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三、知識管理平台選項比較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20040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8872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81328"/>
            <a:ext cx="1042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1463040"/>
            <a:ext cx="100584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19072" y="1481328"/>
            <a:ext cx="859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類型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463040"/>
            <a:ext cx="100584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4912" y="1481328"/>
            <a:ext cx="859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權限控管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463040"/>
            <a:ext cx="146304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1481328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內容模板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463040"/>
            <a:ext cx="73152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1481328"/>
            <a:ext cx="585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搜尋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463040"/>
            <a:ext cx="109728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5312" y="1481328"/>
            <a:ext cx="950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版本歷史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1463040"/>
            <a:ext cx="100584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1481328"/>
            <a:ext cx="859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協作編輯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1463040"/>
            <a:ext cx="9144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2" y="1481328"/>
            <a:ext cx="768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PM 友善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1463040"/>
            <a:ext cx="118872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42832" y="1481328"/>
            <a:ext cx="1042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費用/月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920240"/>
            <a:ext cx="11887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193852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Confluence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0" y="1920240"/>
            <a:ext cx="100584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19072" y="193852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SaaS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1920240"/>
            <a:ext cx="100584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24912" y="193852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1920240"/>
            <a:ext cx="146304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0752" y="1938528"/>
            <a:ext cx="13167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強（必填欄位）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1920240"/>
            <a:ext cx="7315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93792" y="1938528"/>
            <a:ext cx="5852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強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1920240"/>
            <a:ext cx="109728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25312" y="1938528"/>
            <a:ext cx="95097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完整比對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1920240"/>
            <a:ext cx="100584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22592" y="193852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80" y="1920240"/>
            <a:ext cx="91440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28432" y="1938528"/>
            <a:ext cx="7680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69680" y="1920240"/>
            <a:ext cx="11887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42832" y="193852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~$580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2423160"/>
            <a:ext cx="118872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244144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Notion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45920" y="2423160"/>
            <a:ext cx="100584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19072" y="244144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SaaS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2423160"/>
            <a:ext cx="100584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24912" y="244144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中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0" y="2423160"/>
            <a:ext cx="146304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30752" y="2441448"/>
            <a:ext cx="13167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強（Database）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20640" y="2423160"/>
            <a:ext cx="73152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93792" y="2441448"/>
            <a:ext cx="5852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強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52160" y="2423160"/>
            <a:ext cx="109728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25312" y="2441448"/>
            <a:ext cx="95097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9440" y="2423160"/>
            <a:ext cx="100584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22592" y="244144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55280" y="2423160"/>
            <a:ext cx="91440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28432" y="2441448"/>
            <a:ext cx="7680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69680" y="2423160"/>
            <a:ext cx="118872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42832" y="244144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~$800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2926080"/>
            <a:ext cx="11887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0352" y="294436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Outline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45920" y="2926080"/>
            <a:ext cx="100584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719072" y="294436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自架/SaaS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51760" y="2926080"/>
            <a:ext cx="100584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24912" y="294436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0" y="2926080"/>
            <a:ext cx="146304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730752" y="2944368"/>
            <a:ext cx="13167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20640" y="2926080"/>
            <a:ext cx="7315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93792" y="2944368"/>
            <a:ext cx="5852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852160" y="2926080"/>
            <a:ext cx="109728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25312" y="2944368"/>
            <a:ext cx="95097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949440" y="2926080"/>
            <a:ext cx="100584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022592" y="294436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955280" y="2926080"/>
            <a:ext cx="91440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28432" y="2944368"/>
            <a:ext cx="7680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869680" y="2926080"/>
            <a:ext cx="11887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42832" y="294436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免費(自架)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3429000"/>
            <a:ext cx="118872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0352" y="344728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BookStack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645920" y="3429000"/>
            <a:ext cx="100584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719072" y="344728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自架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651760" y="3429000"/>
            <a:ext cx="100584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24912" y="344728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0" y="3429000"/>
            <a:ext cx="146304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30752" y="3447288"/>
            <a:ext cx="13167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20640" y="3429000"/>
            <a:ext cx="73152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193792" y="3447288"/>
            <a:ext cx="5852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852160" y="3429000"/>
            <a:ext cx="109728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925312" y="3447288"/>
            <a:ext cx="95097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949440" y="3429000"/>
            <a:ext cx="100584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022592" y="344728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有限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955280" y="3429000"/>
            <a:ext cx="91440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028432" y="3447288"/>
            <a:ext cx="7680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869680" y="3429000"/>
            <a:ext cx="118872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42832" y="344728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免費(自架)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" y="3931920"/>
            <a:ext cx="11887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30352" y="395020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GitBook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645920" y="3931920"/>
            <a:ext cx="100584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719072" y="395020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SaaS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651760" y="3931920"/>
            <a:ext cx="100584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24912" y="395020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657600" y="3931920"/>
            <a:ext cx="146304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730752" y="3950208"/>
            <a:ext cx="13167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120640" y="3931920"/>
            <a:ext cx="7315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193792" y="3950208"/>
            <a:ext cx="5852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52160" y="3931920"/>
            <a:ext cx="109728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925312" y="3950208"/>
            <a:ext cx="95097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949440" y="3931920"/>
            <a:ext cx="100584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022592" y="395020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955280" y="3931920"/>
            <a:ext cx="91440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028432" y="3950208"/>
            <a:ext cx="7680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中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869680" y="3931920"/>
            <a:ext cx="11887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42832" y="395020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~$500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57200" y="4434840"/>
            <a:ext cx="118872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30352" y="445312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VitePress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645920" y="4434840"/>
            <a:ext cx="100584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719072" y="445312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靜態站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651760" y="4434840"/>
            <a:ext cx="100584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724912" y="445312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無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0" y="4434840"/>
            <a:ext cx="146304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730752" y="4453128"/>
            <a:ext cx="13167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弱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120640" y="4434840"/>
            <a:ext cx="73152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193792" y="4453128"/>
            <a:ext cx="5852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852160" y="4434840"/>
            <a:ext cx="109728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925312" y="4453128"/>
            <a:ext cx="95097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靠Git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949440" y="4434840"/>
            <a:ext cx="100584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022592" y="445312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無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955280" y="4434840"/>
            <a:ext cx="91440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28432" y="4453128"/>
            <a:ext cx="7680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低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869680" y="4434840"/>
            <a:ext cx="118872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942832" y="445312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免費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57200" y="4937760"/>
            <a:ext cx="11887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30352" y="495604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Slite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645920" y="4937760"/>
            <a:ext cx="100584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719072" y="495604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SaaS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651760" y="4937760"/>
            <a:ext cx="100584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724912" y="495604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657600" y="4937760"/>
            <a:ext cx="146304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730752" y="4956048"/>
            <a:ext cx="13167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120640" y="4937760"/>
            <a:ext cx="7315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193792" y="4956048"/>
            <a:ext cx="5852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852160" y="4937760"/>
            <a:ext cx="109728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925312" y="4956048"/>
            <a:ext cx="95097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949440" y="4937760"/>
            <a:ext cx="100584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022592" y="495604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955280" y="4937760"/>
            <a:ext cx="91440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028432" y="4956048"/>
            <a:ext cx="7680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869680" y="4937760"/>
            <a:ext cx="11887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942832" y="495604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~$640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57200" y="5440680"/>
            <a:ext cx="118872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30352" y="545896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Coda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645920" y="5440680"/>
            <a:ext cx="100584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719072" y="545896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SaaS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651760" y="5440680"/>
            <a:ext cx="100584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724912" y="545896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657600" y="5440680"/>
            <a:ext cx="146304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730752" y="5458968"/>
            <a:ext cx="13167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強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120640" y="5440680"/>
            <a:ext cx="73152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193792" y="5458968"/>
            <a:ext cx="5852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5852160" y="5440680"/>
            <a:ext cx="109728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925312" y="5458968"/>
            <a:ext cx="95097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949440" y="5440680"/>
            <a:ext cx="100584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022592" y="545896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955280" y="5440680"/>
            <a:ext cx="91440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028432" y="5458968"/>
            <a:ext cx="7680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869680" y="5440680"/>
            <a:ext cx="118872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8942832" y="545896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~$720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57200" y="5943600"/>
            <a:ext cx="11887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30352" y="596188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MediaWiki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645920" y="5943600"/>
            <a:ext cx="100584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719072" y="596188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自架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651760" y="5943600"/>
            <a:ext cx="100584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2724912" y="596188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3657600" y="5943600"/>
            <a:ext cx="146304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3730752" y="5961888"/>
            <a:ext cx="13167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5120640" y="5943600"/>
            <a:ext cx="7315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193792" y="5961888"/>
            <a:ext cx="5852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852160" y="5943600"/>
            <a:ext cx="109728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5925312" y="5961888"/>
            <a:ext cx="95097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6949440" y="5943600"/>
            <a:ext cx="100584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022592" y="596188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有限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7955280" y="5943600"/>
            <a:ext cx="91440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028432" y="5961888"/>
            <a:ext cx="7680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低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869680" y="5943600"/>
            <a:ext cx="11887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942832" y="596188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免費(自架)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VitePress 適合作為公開技術文件站，但缺乏權限控管、協作編輯，不適合作為全團隊知識管理平台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四 &amp; 五、溝通平台需求與比較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4572000" cy="47548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90D9"/>
                </a:solidFill>
                <a:latin typeface="Microsoft JhengHei"/>
              </a:defRPr>
            </a:pPr>
            <a:r>
              <a:t>核心需求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>
                <a:solidFill>
                  <a:srgbClr val="CCCCCC"/>
                </a:solidFill>
                <a:latin typeface="Microsoft JhengHei"/>
              </a:defRPr>
            </a:pPr>
            <a:r>
              <a:t>•  訊息永久保留（不可有時間限制）</a:t>
            </a:r>
          </a:p>
          <a:p>
            <a:pPr>
              <a:spcAft>
                <a:spcPts val="640"/>
              </a:spcAft>
              <a:defRPr sz="1600">
                <a:solidFill>
                  <a:srgbClr val="CCCCCC"/>
                </a:solidFill>
                <a:latin typeface="Microsoft JhengHei"/>
              </a:defRPr>
            </a:pPr>
            <a:r>
              <a:t>•  頻道/群組管理（依專案/團隊分頻道）</a:t>
            </a:r>
          </a:p>
          <a:p>
            <a:pPr>
              <a:spcAft>
                <a:spcPts val="640"/>
              </a:spcAft>
              <a:defRPr sz="1600">
                <a:solidFill>
                  <a:srgbClr val="CCCCCC"/>
                </a:solidFill>
                <a:latin typeface="Microsoft JhengHei"/>
              </a:defRPr>
            </a:pPr>
            <a:r>
              <a:t>•  Thread 討論（針對單一議題回覆）</a:t>
            </a:r>
          </a:p>
          <a:p>
            <a:pPr>
              <a:spcAft>
                <a:spcPts val="640"/>
              </a:spcAft>
              <a:defRPr sz="1600">
                <a:solidFill>
                  <a:srgbClr val="CCCCCC"/>
                </a:solidFill>
                <a:latin typeface="Microsoft JhengHei"/>
              </a:defRPr>
            </a:pPr>
            <a:r>
              <a:t>•  全文搜尋歷史訊息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8D3F"/>
                </a:solidFill>
                <a:latin typeface="Microsoft JhengHei"/>
              </a:defRPr>
            </a:pPr>
            <a:r>
              <a:t>重要需求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>
                <a:solidFill>
                  <a:srgbClr val="CCCCCC"/>
                </a:solidFill>
                <a:latin typeface="Microsoft JhengHei"/>
              </a:defRPr>
            </a:pPr>
            <a:r>
              <a:t>•  整合開發工具（GitHub、CI/CD）</a:t>
            </a:r>
          </a:p>
          <a:p>
            <a:pPr>
              <a:spcAft>
                <a:spcPts val="640"/>
              </a:spcAft>
              <a:defRPr sz="1600">
                <a:solidFill>
                  <a:srgbClr val="CCCCCC"/>
                </a:solidFill>
                <a:latin typeface="Microsoft JhengHei"/>
              </a:defRPr>
            </a:pPr>
            <a:r>
              <a:t>•  檔案分享與保留</a:t>
            </a:r>
          </a:p>
          <a:p>
            <a:pPr>
              <a:spcAft>
                <a:spcPts val="640"/>
              </a:spcAft>
              <a:defRPr sz="1600">
                <a:solidFill>
                  <a:srgbClr val="CCCCCC"/>
                </a:solidFill>
                <a:latin typeface="Microsoft JhengHei"/>
              </a:defRPr>
            </a:pPr>
            <a:r>
              <a:t>•  新成員加入可看到歷史訊息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554480"/>
            <a:ext cx="128016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1572768"/>
            <a:ext cx="1133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平台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1554480"/>
            <a:ext cx="118872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9712" y="1572768"/>
            <a:ext cx="1042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訊息保留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1554480"/>
            <a:ext cx="73152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8432" y="1572768"/>
            <a:ext cx="585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Thread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554480"/>
            <a:ext cx="100584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9952" y="1572768"/>
            <a:ext cx="859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整合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1554480"/>
            <a:ext cx="118872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65792" y="1572768"/>
            <a:ext cx="1042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費用/月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81360" y="1554480"/>
            <a:ext cx="13716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54512" y="1572768"/>
            <a:ext cx="12252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備註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2011680"/>
            <a:ext cx="128016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59552" y="2029968"/>
            <a:ext cx="113385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Slack Pro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2011680"/>
            <a:ext cx="11887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712" y="202996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無限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0" y="2011680"/>
            <a:ext cx="7315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28432" y="2029968"/>
            <a:ext cx="5852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2011680"/>
            <a:ext cx="100584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59952" y="202996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最豐富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2011680"/>
            <a:ext cx="11887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5792" y="202996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~$590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881360" y="2011680"/>
            <a:ext cx="137160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54512" y="2029968"/>
            <a:ext cx="12252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業界標配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2514600"/>
            <a:ext cx="128016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59552" y="2532888"/>
            <a:ext cx="113385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Slack Free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2514600"/>
            <a:ext cx="118872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39712" y="253288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90 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80" y="2514600"/>
            <a:ext cx="73152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28432" y="2532888"/>
            <a:ext cx="5852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2514600"/>
            <a:ext cx="100584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59952" y="253288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豐富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92640" y="2514600"/>
            <a:ext cx="118872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65792" y="253288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免費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881360" y="2514600"/>
            <a:ext cx="137160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54512" y="2532888"/>
            <a:ext cx="12252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不適合長期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3017520"/>
            <a:ext cx="128016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59552" y="3035808"/>
            <a:ext cx="113385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Mattermost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60" y="3017520"/>
            <a:ext cx="11887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39712" y="303580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無限(自架)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55280" y="3017520"/>
            <a:ext cx="7315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28432" y="3035808"/>
            <a:ext cx="5852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0" y="3017520"/>
            <a:ext cx="100584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59952" y="303580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不錯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92640" y="3017520"/>
            <a:ext cx="11887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65792" y="303580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伺服器成本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881360" y="3017520"/>
            <a:ext cx="137160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54512" y="3035808"/>
            <a:ext cx="12252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需維運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0" y="3520440"/>
            <a:ext cx="128016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59552" y="3538728"/>
            <a:ext cx="113385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Discord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66560" y="3520440"/>
            <a:ext cx="118872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39712" y="353872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無限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55280" y="3520440"/>
            <a:ext cx="73152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28432" y="3538728"/>
            <a:ext cx="5852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86800" y="3520440"/>
            <a:ext cx="100584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59952" y="353872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有限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92640" y="3520440"/>
            <a:ext cx="118872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65792" y="353872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免費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881360" y="3520440"/>
            <a:ext cx="137160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954512" y="3538728"/>
            <a:ext cx="12252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不夠正式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0" y="4023360"/>
            <a:ext cx="128016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9552" y="4041648"/>
            <a:ext cx="113385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Google Chat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766560" y="4023360"/>
            <a:ext cx="11887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39712" y="404164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需GWS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55280" y="4023360"/>
            <a:ext cx="7315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28432" y="4041648"/>
            <a:ext cx="5852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686800" y="4023360"/>
            <a:ext cx="100584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759952" y="404164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Google系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92640" y="4023360"/>
            <a:ext cx="118872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65792" y="404164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~$960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881360" y="4023360"/>
            <a:ext cx="1371600" cy="502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954512" y="4041648"/>
            <a:ext cx="12252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需GWS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0" y="4526280"/>
            <a:ext cx="128016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559552" y="4544568"/>
            <a:ext cx="113385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MS Teams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766560" y="4526280"/>
            <a:ext cx="118872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39712" y="454456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無限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955280" y="4526280"/>
            <a:ext cx="73152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28432" y="4544568"/>
            <a:ext cx="5852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686800" y="4526280"/>
            <a:ext cx="100584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59952" y="4544568"/>
            <a:ext cx="85953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Office系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692640" y="4526280"/>
            <a:ext cx="118872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765792" y="4544568"/>
            <a:ext cx="104241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~$480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881360" y="4526280"/>
            <a:ext cx="1371600" cy="502920"/>
          </a:xfrm>
          <a:prstGeom prst="rect">
            <a:avLst/>
          </a:prstGeom>
          <a:solidFill>
            <a:srgbClr val="2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954512" y="4544568"/>
            <a:ext cx="12252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需M365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六、組合方案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54480"/>
            <a:ext cx="3657600" cy="48463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3657600" cy="635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Microsoft JhengHei"/>
              </a:defRPr>
            </a:pPr>
            <a:r>
              <a:t>方案 A — 零成本自架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知識管理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Outline（自架）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溝通平台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88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Mattermost（自架）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技術文件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starter-portal (VitePress)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11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月費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611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僅伺服器成本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JhengHei"/>
              </a:defRPr>
            </a:pPr>
            <a:r>
              <a:t>優點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805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JhengHei"/>
              </a:defRPr>
            </a:pPr>
            <a:r>
              <a:t>零授權費</a:t>
            </a:r>
            <a:br/>
            <a:r>
              <a:t>資料完全自控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Microsoft JhengHei"/>
              </a:defRPr>
            </a:pPr>
            <a:r>
              <a:t>缺點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JhengHei"/>
              </a:defRPr>
            </a:pPr>
            <a:r>
              <a:t>需要維運人力</a:t>
            </a:r>
            <a:br/>
            <a:r>
              <a:t>生態系較小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554480"/>
            <a:ext cx="3657600" cy="48463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554480"/>
            <a:ext cx="3657600" cy="6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90D9"/>
                </a:solidFill>
                <a:latin typeface="Microsoft JhengHei"/>
              </a:defRPr>
            </a:pPr>
            <a:r>
              <a:t>方案 B — 快速導入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377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知識管理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Notion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788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溝通平台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788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Slack Pro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200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技術文件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starter-portal + Notion 同步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611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月費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3611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~$1,400 USD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JhengHei"/>
              </a:defRPr>
            </a:pPr>
            <a:r>
              <a:t>優點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4805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JhengHei"/>
              </a:defRPr>
            </a:pPr>
            <a:r>
              <a:t>上手最快</a:t>
            </a:r>
            <a:br/>
            <a:r>
              <a:t>PM 友善度最高</a:t>
            </a:r>
            <a:br/>
            <a:r>
              <a:t>零維運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Microsoft JhengHei"/>
              </a:defRPr>
            </a:pPr>
            <a:r>
              <a:t>缺點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JhengHei"/>
              </a:defRPr>
            </a:pPr>
            <a:r>
              <a:t>費用較高</a:t>
            </a:r>
            <a:br/>
            <a:r>
              <a:t>權限控管不如</a:t>
            </a:r>
            <a:br/>
            <a:r>
              <a:t>Confluence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1554480"/>
            <a:ext cx="3657600" cy="48463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1554480"/>
            <a:ext cx="3657600" cy="63500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8D3F"/>
                </a:solidFill>
                <a:latin typeface="Microsoft JhengHei"/>
              </a:defRPr>
            </a:pPr>
            <a:r>
              <a:t>方案 C — 企業級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377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知識管理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Confluence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2788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溝通平台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2788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Slack Pro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3200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技術文件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starter-portal + Confluence 同步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3611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月費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3611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JhengHei"/>
              </a:defRPr>
            </a:pPr>
            <a:r>
              <a:t>~$1,170 USD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JhengHei"/>
              </a:defRPr>
            </a:pPr>
            <a:r>
              <a:t>優點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44805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JhengHei"/>
              </a:defRPr>
            </a:pPr>
            <a:r>
              <a:t>權限最完整</a:t>
            </a:r>
            <a:br/>
            <a:r>
              <a:t>企業功能最強</a:t>
            </a:r>
            <a:br/>
            <a:r>
              <a:t>可整合 Jira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Microsoft JhengHei"/>
              </a:defRPr>
            </a:pPr>
            <a:r>
              <a:t>缺點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JhengHei"/>
              </a:defRPr>
            </a:pPr>
            <a:r>
              <a:t>學習曲線稍高</a:t>
            </a:r>
            <a:br/>
            <a:r>
              <a:t>介面較重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七、分階段推動計畫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3657600" cy="47548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657600" cy="6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90D9"/>
                </a:solidFill>
                <a:latin typeface="Microsoft JhengHei"/>
              </a:defRPr>
            </a:pPr>
            <a:r>
              <a:t>Phase 1 — 試行期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Microsoft JhengHei"/>
              </a:defRPr>
            </a:pPr>
            <a:r>
              <a:t>第 1~2 個月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JhengHei"/>
              </a:defRPr>
            </a:pPr>
            <a:r>
              <a:t>•  選定 1 個專案團隊 (5~10 人) 先行試用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JhengHei"/>
              </a:defRPr>
            </a:pPr>
            <a:r>
              <a:t>•  建立溝通平台 Workspace，設定基本頻道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JhengHei"/>
              </a:defRPr>
            </a:pPr>
            <a:r>
              <a:t>•  在知識平台上建立文件模板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JhengHei"/>
              </a:defRPr>
            </a:pPr>
            <a:r>
              <a:t>•  starter-portal 技術文件 POC 持續運作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554480"/>
            <a:ext cx="3657600" cy="47548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554480"/>
            <a:ext cx="3657600" cy="63500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8D3F"/>
                </a:solidFill>
                <a:latin typeface="Microsoft JhengHei"/>
              </a:defRPr>
            </a:pPr>
            <a:r>
              <a:t>Phase 2 — 擴展期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94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Microsoft JhengHei"/>
              </a:defRPr>
            </a:pPr>
            <a:r>
              <a:t>第 3~4 個月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8346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JhengHei"/>
              </a:defRPr>
            </a:pPr>
            <a:r>
              <a:t>•  根據試行回饋調整流程與模板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383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JhengHei"/>
              </a:defRPr>
            </a:pPr>
            <a:r>
              <a:t>•  擴展到 2~3 個團隊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9319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JhengHei"/>
              </a:defRPr>
            </a:pPr>
            <a:r>
              <a:t>•  建立文件撰寫規範 &amp; 最佳實踐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480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JhengHei"/>
              </a:defRPr>
            </a:pPr>
            <a:r>
              <a:t>•  整合 Git / CI 通知到溝通平台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554480"/>
            <a:ext cx="3657600" cy="47548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554480"/>
            <a:ext cx="3657600" cy="635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Microsoft JhengHei"/>
              </a:defRPr>
            </a:pPr>
            <a:r>
              <a:t>Phase 3 — 全面導入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194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Microsoft JhengHei"/>
              </a:defRPr>
            </a:pPr>
            <a:r>
              <a:t>第 5~6 個月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8346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JhengHei"/>
              </a:defRPr>
            </a:pPr>
            <a:r>
              <a:t>•  全團隊導入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383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JhengHei"/>
              </a:defRPr>
            </a:pPr>
            <a:r>
              <a:t>•  建立 onboarding 文件流程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9319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JhengHei"/>
              </a:defRPr>
            </a:pPr>
            <a:r>
              <a:t>•  定期 review 文件品質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480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icrosoft JhengHei"/>
              </a:defRPr>
            </a:pPr>
            <a:r>
              <a:t>•  評估是否需要調整或升級方案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八、預期效益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20116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Microsoft JhengHei"/>
              </a:defRPr>
            </a:pPr>
            <a:r>
              <a:t>減少溝通成本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JhengHei"/>
              </a:defRPr>
            </a:pPr>
            <a:r>
              <a:t>每人每天節省 30 分鐘找資料時間</a:t>
            </a:r>
            <a:br/>
            <a:r>
              <a:t>80 人 × 0.5hr × 22天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9202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Microsoft JhengHei"/>
              </a:defRPr>
            </a:pPr>
            <a:r>
              <a:t>880</a:t>
            </a:r>
            <a:br/>
            <a:r>
              <a:t>人時/月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5303520" cy="20116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Microsoft JhengHei"/>
              </a:defRPr>
            </a:pPr>
            <a:r>
              <a:t>加速新人上手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317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JhengHei"/>
              </a:defRPr>
            </a:pPr>
            <a:r>
              <a:t>有文檔支撐的 onboarding</a:t>
            </a:r>
            <a:br/>
            <a:r>
              <a:t>大幅縮短養成時間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9202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Microsoft JhengHei"/>
              </a:defRPr>
            </a:pPr>
            <a:r>
              <a:t>50%</a:t>
            </a:r>
            <a:br/>
            <a:r>
              <a:t>更快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23360"/>
            <a:ext cx="5303520" cy="20116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Microsoft JhengHei"/>
              </a:defRPr>
            </a:pPr>
            <a:r>
              <a:t>減少重複錯誤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091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JhengHei"/>
              </a:defRPr>
            </a:pPr>
            <a:r>
              <a:t>知識沉澱避免重複踩坑</a:t>
            </a:r>
            <a:br/>
            <a:r>
              <a:t>減少重複問題發生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29768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Microsoft JhengHei"/>
              </a:defRPr>
            </a:pPr>
            <a:r>
              <a:t>60%</a:t>
            </a:r>
            <a:br/>
            <a:r>
              <a:t>減少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023360"/>
            <a:ext cx="5303520" cy="20116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Microsoft JhengHei"/>
              </a:defRPr>
            </a:pPr>
            <a:r>
              <a:t>決策可追溯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7091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JhengHei"/>
              </a:defRPr>
            </a:pPr>
            <a:r>
              <a:t>所有討論和決策都有紀錄</a:t>
            </a:r>
            <a:br/>
            <a:r>
              <a:t>人員異動不影響知識傳承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429768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Microsoft JhengHei"/>
              </a:defRPr>
            </a:pPr>
            <a:r>
              <a:t>100%</a:t>
            </a:r>
            <a:br/>
            <a:r>
              <a:t>可追溯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九、下一步行動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286000"/>
            <a:ext cx="2103120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9260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CCCC"/>
                </a:solidFill>
                <a:latin typeface="Microsoft JhengHei"/>
              </a:defRPr>
            </a:pPr>
            <a:r>
              <a:t>1.  決定知識管理平台選型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5661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CCCC"/>
                </a:solidFill>
                <a:latin typeface="Microsoft JhengHei"/>
              </a:defRPr>
            </a:pPr>
            <a:r>
              <a:t>2.  決定溝通平台選型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2062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CCCC"/>
                </a:solidFill>
                <a:latin typeface="Microsoft JhengHei"/>
              </a:defRPr>
            </a:pPr>
            <a:r>
              <a:t>3.  選定試行團隊，開始 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8463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CCCC"/>
                </a:solidFill>
                <a:latin typeface="Microsoft JhengHei"/>
              </a:defRPr>
            </a:pPr>
            <a:r>
              <a:t>4.  指定文件負責人，建立初始模板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A90D9"/>
                </a:solidFill>
                <a:latin typeface="Microsoft JhengHei"/>
              </a:defRPr>
            </a:pPr>
            <a:r>
              <a:t>小步快跑，先求有、再求好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